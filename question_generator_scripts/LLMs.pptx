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05B0B-466F-C6C8-148E-1A5702E4E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13793D-C915-E9D6-3710-8A2212FF4D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DC47F-537B-0295-FE58-0673AF9F2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8F0D2-201F-44AF-8B54-5A8247CAFBA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6C341-6561-283B-AD7F-F9642B6B3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D785B-D551-5503-5432-70FC11075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9C14-A01F-4B8D-A2EA-1E782B1B5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074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BA66C-3288-2C77-5ECD-8F30F7CC8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17A40-1BD7-C6F9-C682-6F1D6A579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21E76-4CF6-5701-9272-81C94B9DD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8F0D2-201F-44AF-8B54-5A8247CAFBA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789F9-C555-40E2-7556-DC8BA48FB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D9914-3E53-CA9B-B0A8-144C56B45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9C14-A01F-4B8D-A2EA-1E782B1B5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729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C9836-6490-7168-ACCD-0287DB476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19693-C75F-9B67-BFAA-4457A62FD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E3923-85AC-42C1-7C5A-2CFCFA0D0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8F0D2-201F-44AF-8B54-5A8247CAFBA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2F9CC-0F91-725D-6BF3-1B8EAA1D2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A67F5-59E2-D9B3-68ED-FDBCC9E6A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9C14-A01F-4B8D-A2EA-1E782B1B5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484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4C84A-D5D5-5B17-E9B1-0DF55BAD8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30D57-F4C6-FEF8-EF10-5FC30BA276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C37DD9-3D84-EC8D-A836-0B70569D8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BF038-D227-4E3A-8D8E-04D005D83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8F0D2-201F-44AF-8B54-5A8247CAFBA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5F28A2-B46C-E63F-D605-0DFEBD4BC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1BD59-CA40-A748-A275-00559BA9B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9C14-A01F-4B8D-A2EA-1E782B1B5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074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48761-FAB7-A9E7-9E31-DB535957E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B32F1B-B367-6FE9-19CE-1ED71D08E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69A6BC-8353-3CA1-B6EB-51C3286A11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F2951D-BE44-5470-B0D7-C2A873B963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97AC38-3162-BC37-36AF-A286433EDE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CE0AA0-0D08-8387-5CA2-3093D6237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8F0D2-201F-44AF-8B54-5A8247CAFBA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3FFFFC-4645-9C4A-D4C9-6FF66FD80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6BD304-C893-5B11-AE80-9283AAE35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9C14-A01F-4B8D-A2EA-1E782B1B5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107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E26B0-23BB-84EC-B3BB-A7F240C1C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EE64EE-7BDA-6142-D0FB-3CA98A0DE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8F0D2-201F-44AF-8B54-5A8247CAFBA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C19977-B928-E56F-6D53-99ECF58BD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DD0224-1ED0-4FD7-BF4B-621A68706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9C14-A01F-4B8D-A2EA-1E782B1B5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604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3FEC5B-CC4F-9690-1041-38BD175CB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8F0D2-201F-44AF-8B54-5A8247CAFBA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DC513D-7F07-1226-E5B5-6A74B93EB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FEB83-4A5F-AA69-648F-B947C1069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9C14-A01F-4B8D-A2EA-1E782B1B5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712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56E44-507A-8AED-4979-33789F240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7F9B1-9F10-5347-1356-F66ED0E1C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E7A854-198E-1DFB-B47B-9C051E9F7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5C168-1083-83A0-DE8D-1A9FC3FCE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8F0D2-201F-44AF-8B54-5A8247CAFBA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5C1868-2849-770D-41AB-807B0C31F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60BD3-5FF4-8B6F-27E9-691BA1EA9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9C14-A01F-4B8D-A2EA-1E782B1B5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619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7B4FD-9E3D-2FB4-17D2-A17B3726F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CC9D84-C595-9B3B-D5FF-43797646B4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A7E2B7-58D4-FB92-7253-E004C96C4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53F92-1E46-C16A-9BF2-49AD976DD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8F0D2-201F-44AF-8B54-5A8247CAFBA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F447D-1070-5A29-4723-1C5C513B9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CA8A6-DE12-E4ED-D78A-F7F804D7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9C14-A01F-4B8D-A2EA-1E782B1B5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652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9C7B5-343A-4B55-BE96-33F3F62A6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C9FECE-1CA9-E00F-C20E-C95EC113A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573BC-F87C-F6F4-B07C-BCB98F547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8F0D2-201F-44AF-8B54-5A8247CAFBA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FFB5C-E68B-0084-993E-2D32F6664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FE238-7356-A789-33D0-30891A8D5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9C14-A01F-4B8D-A2EA-1E782B1B5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608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6F1132-69A1-05EE-537D-B6AD151E60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6F65F-64DA-5DED-F162-6519849FF0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38516-81E5-A90E-4A47-67A6951B8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8F0D2-201F-44AF-8B54-5A8247CAFBA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56FD-8AEA-C685-E193-F272ABE2A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D18B7-DBB6-C05D-8E35-9AF0CADCD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9C14-A01F-4B8D-A2EA-1E782B1B5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31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E9CADF-30BB-5F4F-E3D0-C9800EEA8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D329E-28A5-3CA1-0AEC-6AA37781C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6208E-2A65-A856-4593-88815CF7C0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18F0D2-201F-44AF-8B54-5A8247CAFBA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E9F0F-AB91-F486-2823-B915B98686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32685-3B95-9FAB-3184-65FA201C39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8A9C14-A01F-4B8D-A2EA-1E782B1B5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773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E5DF7E-A6E7-7A5F-5B58-685BFD51D3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452498"/>
              </p:ext>
            </p:extLst>
          </p:nvPr>
        </p:nvGraphicFramePr>
        <p:xfrm>
          <a:off x="2032000" y="728810"/>
          <a:ext cx="812799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867290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4146574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66051643"/>
                    </a:ext>
                  </a:extLst>
                </a:gridCol>
              </a:tblGrid>
              <a:tr h="3986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LLM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cost per million token (input)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cost per million token (output)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4946846"/>
                  </a:ext>
                </a:extLst>
              </a:tr>
              <a:tr h="288945">
                <a:tc>
                  <a:txBody>
                    <a:bodyPr/>
                    <a:lstStyle/>
                    <a:p>
                      <a:r>
                        <a:rPr lang="en-US" dirty="0"/>
                        <a:t>GPT 5.5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$30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264524"/>
                  </a:ext>
                </a:extLst>
              </a:tr>
              <a:tr h="288945">
                <a:tc>
                  <a:txBody>
                    <a:bodyPr/>
                    <a:lstStyle/>
                    <a:p>
                      <a:r>
                        <a:rPr lang="en-IN" dirty="0"/>
                        <a:t>Claude Sonnet 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562523"/>
                  </a:ext>
                </a:extLst>
              </a:tr>
              <a:tr h="288945">
                <a:tc>
                  <a:txBody>
                    <a:bodyPr/>
                    <a:lstStyle/>
                    <a:p>
                      <a:r>
                        <a:rPr lang="en-IN" dirty="0"/>
                        <a:t>Gemini 3.5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$1.50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9126"/>
                  </a:ext>
                </a:extLst>
              </a:tr>
              <a:tr h="288945">
                <a:tc>
                  <a:txBody>
                    <a:bodyPr/>
                    <a:lstStyle/>
                    <a:p>
                      <a:r>
                        <a:rPr lang="en-US" dirty="0"/>
                        <a:t>Grok 4.3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$2.50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6600"/>
                  </a:ext>
                </a:extLst>
              </a:tr>
              <a:tr h="288945">
                <a:tc>
                  <a:txBody>
                    <a:bodyPr/>
                    <a:lstStyle/>
                    <a:p>
                      <a:r>
                        <a:rPr lang="en-US" dirty="0" err="1"/>
                        <a:t>Deepseek</a:t>
                      </a:r>
                      <a:r>
                        <a:rPr lang="en-US" dirty="0"/>
                        <a:t> v4 Pro</a:t>
                      </a:r>
                    </a:p>
                    <a:p>
                      <a:r>
                        <a:rPr lang="en-US" dirty="0" err="1"/>
                        <a:t>Deepseek</a:t>
                      </a:r>
                      <a:r>
                        <a:rPr lang="en-US" dirty="0"/>
                        <a:t> V4 Flash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$0.0435</a:t>
                      </a:r>
                    </a:p>
                    <a:p>
                      <a:r>
                        <a:rPr lang="en-US" dirty="0"/>
                        <a:t>$0.14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$0.87</a:t>
                      </a:r>
                    </a:p>
                    <a:p>
                      <a:r>
                        <a:rPr lang="en-US" dirty="0"/>
                        <a:t>$0.28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03765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4843CCE-3540-98F4-1F21-C9760C90110C}"/>
              </a:ext>
            </a:extLst>
          </p:cNvPr>
          <p:cNvSpPr txBox="1"/>
          <p:nvPr/>
        </p:nvSpPr>
        <p:spPr>
          <a:xfrm>
            <a:off x="1125501" y="4407408"/>
            <a:ext cx="145584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cs typeface="Times New Roman" panose="02020603050405020304" pitchFamily="18" charset="0"/>
              </a:rPr>
              <a:t>OPEN SOURCE: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err="1">
                <a:cs typeface="Times New Roman" panose="02020603050405020304" pitchFamily="18" charset="0"/>
              </a:rPr>
              <a:t>FinGPT</a:t>
            </a:r>
            <a:endParaRPr lang="en-US" sz="1400" dirty="0"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err="1">
                <a:cs typeface="Times New Roman" panose="02020603050405020304" pitchFamily="18" charset="0"/>
              </a:rPr>
              <a:t>FinMA</a:t>
            </a:r>
            <a:endParaRPr lang="en-US" sz="1400" dirty="0"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err="1">
                <a:cs typeface="Times New Roman" panose="02020603050405020304" pitchFamily="18" charset="0"/>
              </a:rPr>
              <a:t>FinLLAMA</a:t>
            </a:r>
            <a:endParaRPr lang="en-US" sz="1400" dirty="0"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err="1">
                <a:cs typeface="Times New Roman" panose="02020603050405020304" pitchFamily="18" charset="0"/>
              </a:rPr>
              <a:t>InvestLM</a:t>
            </a:r>
            <a:endParaRPr lang="en-IN" sz="1400" dirty="0"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98A19C-6633-A0F7-AFAA-69A9A3ECBDFC}"/>
              </a:ext>
            </a:extLst>
          </p:cNvPr>
          <p:cNvSpPr txBox="1"/>
          <p:nvPr/>
        </p:nvSpPr>
        <p:spPr>
          <a:xfrm>
            <a:off x="1125501" y="5852191"/>
            <a:ext cx="18746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MISTRAL MEDIUM 3.5 (?)</a:t>
            </a:r>
            <a:endParaRPr lang="en-IN" sz="1200" b="1" dirty="0"/>
          </a:p>
        </p:txBody>
      </p:sp>
    </p:spTree>
    <p:extLst>
      <p:ext uri="{BB962C8B-B14F-4D97-AF65-F5344CB8AC3E}">
        <p14:creationId xmlns:p14="http://schemas.microsoft.com/office/powerpoint/2010/main" val="882514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F1455C-D344-0C95-13A3-A506CA685841}"/>
              </a:ext>
            </a:extLst>
          </p:cNvPr>
          <p:cNvSpPr txBox="1"/>
          <p:nvPr/>
        </p:nvSpPr>
        <p:spPr>
          <a:xfrm>
            <a:off x="3703320" y="1197864"/>
            <a:ext cx="6611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https://github.com/eugeneyan/open-llms</a:t>
            </a:r>
          </a:p>
        </p:txBody>
      </p:sp>
    </p:spTree>
    <p:extLst>
      <p:ext uri="{BB962C8B-B14F-4D97-AF65-F5344CB8AC3E}">
        <p14:creationId xmlns:p14="http://schemas.microsoft.com/office/powerpoint/2010/main" val="536775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Arnav Singh</dc:creator>
  <cp:lastModifiedBy>Arnav Singh</cp:lastModifiedBy>
  <cp:revision>1</cp:revision>
  <dcterms:created xsi:type="dcterms:W3CDTF">2026-06-24T09:19:53Z</dcterms:created>
  <dcterms:modified xsi:type="dcterms:W3CDTF">2026-06-24T09:19:59Z</dcterms:modified>
</cp:coreProperties>
</file>